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428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I'm going to show you how we achieved something that sounds impossible: 100% cell-level accuracy on historical census tables using a constraint-driven AI approach. 52 tables, over 16,000 cells, zero errors. And the system costs about 8 cents per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Indian Census from 1872-1941 is one of the largest historical demographic datasets ever collected. It covers 20+ provinces over 70 years. Each page contains age-by-sex population tables. Manual transcription costs about $10 per table and is slow. Worse, it's not even reliable -- we found 28 confirmed errors in our professionally transcribed ground truth files. Some errors were off by thousands.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single table can have 240 cells or more. With 4% error rate, that's 10 wrong cells per table. And you have no way to know WHICH cells are wrong. The errors are systematic -- the same ambiguous digit gets misread the same way every time. This is the 'last mile' problem: getting from 96% to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Here's every method we tested on all 52 tables. Traditional OCR tools like Tesseract get around 40-50%. State-of-the-art LLMs like GPT-4.1 and Claude get around 15-16%. Mistral's dedicated OCR model reaches 71%. Google Cloud Vision gets 82%. SudokuOCR achieves 100% -- the only method that gets every single cell correct. The right panel shows per-table distributions: other methods have huge variance, while SudokuOCR is a flat line at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key insight: census tables aren't just grids of independent numbers. They're constraint systems, like Sudoku puzzles. Every row must satisfy Persons = Males + Females. Column sums must equal totals. Cross-group sums must be consistent. A single wrong digit violates multiple constraints. This makes errors DETECTABLE and CORRECTABLE.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define 5 levels of constraints. L1: every row, Persons = Males + Females. L2: vertical sums -- age groups must add up to their subtotals and grand totals. L3: cross-group -- Population must equal the sum of Unmarried + Married + Widowed + Divorced. L4: cross-section -- community sections must sum to the All Communities total. L5: all values must be non-negative. Across our 52 tables, this gives us over 26,000 constraint checks. Each cell participates in 3-5 independent constraints, so errors can't hide.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pipeline has 3 phases. Phase 1: Schema Discovery -- one API call to understand the table structure. What are the column groups? What are the age rows? What's the subtotal hierarchy? Phase 2: Tailored Extraction -- schema-guided data extraction using a prompt generated from the schema. Phase 3: Verify and Repair -- check all constraints, and if any fail, run the multi-phase repair cascade. Total: 2-3 API calls per table for most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When constraints fail, we don't just re-ask the AI. We have a multi-phase repair cascade. Phase A detects Male/Female column swaps -- zero API calls. Phase B uses 10 deductive strategies to fix digit confusions -- also zero API calls. These cover common OCR confusions like 3-vs-8, 5-vs-6. Only if deduction fails do we make additional API calls for targeted rechecks. 59% of all fixes are completely free -- pure math, no additional AI needed. Like Sudoku: use what you know to deduce what you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results: 52 out of 52 tables achieve 100% cell-level accuracy. 16,542 cells with zero errors. 26,173 constraint checks with zero failures. This spans 6 regions and 4 census years from 1891 to 1941. The tables range from simple 2-group tables with 114 cells to complex 3-section, 5-group tables with 500+ cells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chart compares cost versus accuracy for every method we tested. Manual transcription costs about $10 per table and still has errors -- we found 28 in our GT files. Traditional OCR is free but only 40-50% accurate. Raw LLMs cost 3-6 cents but plateau at 15-82%. SudokuOCR costs about 8 cents per table and achieves 100% with verification. It's the only dot in the upper-left corner: cheap AND perfect AND self-verifying.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Here's an unexpected result: our pipeline is MORE accurate than the human-transcribed ground truth. We found 28 confirmed errors in 3 professionally transcribed Excel files. Hyderabad alone had 21 errors, some off by over 6,000. In every single case, the pipeline's constraint-verified output matched the original scan correctly. This demonstrates that constraints provide a trust signal independent of any external ground truth. You don't need a human to verify the output -- the math does it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broader principle. AI plus verifiable constraints equals reliable AI. The pattern works whenever you have a domain with internal consistency rules. Census tables have arithmetic. Financial statements have accounting identities. Scientific data has physical laws. Code has tests. Use AI for the hard part -- perception, generation -- and use math for the easy part -- verification. The constraints don't need to directly check correctness. They just need to be CORRELATED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Looking ahead, we want to scale this to the full Indian Census corpus -- thousands of tables. At about 8 cents per table, 1000 tables would cost around $77. We also want to extend to other structured historical documents: vital statistics, trade records, and non-English colonial census records. Most importantly, we want to open-source the constraint framework so it can be applied to any domain with verifiable structure -- financial auditing, scientific data, inventory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SudokuOCR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rPr dirty="0"/>
              <a:t>Constraint-Driven AI fo</a:t>
            </a:r>
            <a:r>
              <a:rPr lang="en-US" dirty="0"/>
              <a:t>r</a:t>
            </a:r>
            <a:r>
              <a:rPr dirty="0"/>
              <a:t> Historical Census Digitization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453C"/>
                </a:solidFill>
                <a:latin typeface="Calibri"/>
              </a:defRPr>
            </a:pPr>
            <a:r>
              <a:t>100% accuracy on 16,542 cells across 52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dirty="0"/>
              <a:t>Tables</a:t>
            </a:r>
            <a:br>
              <a:rPr dirty="0"/>
            </a:b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931920" y="4389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16,542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49377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Cells</a:t>
            </a:r>
            <a:br/>
            <a:r>
              <a:t>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389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26,173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9377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Constraint</a:t>
            </a:r>
            <a:br/>
            <a:r>
              <a:t>Checks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59" y="4389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$0.08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59" y="49377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Per Table</a:t>
            </a:r>
            <a:br/>
            <a:r>
              <a:t>Average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rPr dirty="0"/>
              <a:t>Chris Rua</a:t>
            </a:r>
            <a:r>
              <a:rPr lang="en-US" dirty="0"/>
              <a:t>ñ</a:t>
            </a:r>
            <a:r>
              <a:rPr dirty="0"/>
              <a:t>o  |  HEB 91r  |  Harvard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Historical Indian Census (1872–1941): millions of pages of handwritten/printed tables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20+ provinces, 70+ years, thousands of tables of demographic data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Manual transcription: ~$10/table, slow, and still has errors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We found 28 confirmed errors in professionally transcribed ground truth</a:t>
            </a:r>
          </a:p>
        </p:txBody>
      </p:sp>
      <p:pic>
        <p:nvPicPr>
          <p:cNvPr id="5" name="Picture 4" descr="example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586" y="1097280"/>
            <a:ext cx="5350747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5760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Travancore Eastern Division, 1901 Census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Why This Is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Tables have 240+ cells with complex structure (sections, age groups, P/M/F columns)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OCR errors are correlated: same digit confusion across an entire page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Even the best AI models plateau at ~92–96% — the "last mile" problem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4% error rate × 240 cells = ~10 wrong cells per table, with no way to know which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Common confusions: 3↔8, 5↔6, 0↔9 (ambiguous in degraded scans)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2801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Courier New"/>
              </a:defRPr>
            </a:pPr>
            <a:r>
              <a:t>     POPULATION        UNMARRIED        MARRIED</a:t>
            </a:r>
            <a:br/>
            <a:r>
              <a:t>  P     M     F     P     M     F     P     M     F</a:t>
            </a:r>
            <a:br/>
            <a:r>
              <a:t> ──── ──── ────  ──── ──── ────  ──── ──── ────</a:t>
            </a:r>
            <a:br/>
            <a:r>
              <a:t> 175k  85k  90k   174k  85k  89k    1.4k  509   958</a:t>
            </a:r>
            <a:br/>
            <a:r>
              <a:t> 236k 115k 121k   235k 114k 120k    1.4k  763   727</a:t>
            </a:r>
            <a:br/>
            <a:r>
              <a:t>  ...  ...  ...    ...  ...  ...     ...  ...   ...</a:t>
            </a:r>
            <a:br/>
            <a:br/>
            <a:r>
              <a:t>20 age rows × 4 groups × 3 columns</a:t>
            </a:r>
            <a:br/>
            <a:r>
              <a:t>= 240 cells per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453C"/>
                </a:solidFill>
                <a:latin typeface="Calibri"/>
              </a:defRPr>
            </a:pPr>
            <a:r>
              <a:rPr dirty="0"/>
              <a:t>The fundamental problem: the AI doesn’t know when it’s wrong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The Baseline — "Just Ask the AI"</a:t>
            </a:r>
          </a:p>
        </p:txBody>
      </p:sp>
      <p:pic>
        <p:nvPicPr>
          <p:cNvPr id="4" name="Picture 3" descr="fig1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404" y="914400"/>
            <a:ext cx="9507191" cy="5813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The Key Insight — Census Tables Are Sudoku Puzzles</a:t>
            </a:r>
          </a:p>
        </p:txBody>
      </p:sp>
      <p:pic>
        <p:nvPicPr>
          <p:cNvPr id="4" name="Picture 3" descr="fig5_sudoku_ana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791" y="1261101"/>
            <a:ext cx="9218009" cy="52311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917" y="2094614"/>
            <a:ext cx="248929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A1A2E"/>
                </a:solidFill>
                <a:latin typeface="Calibri"/>
              </a:defRPr>
            </a:pPr>
            <a:r>
              <a:rPr sz="2000" dirty="0"/>
              <a:t>Every cell is constrained by its row and column sums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A1A2E"/>
                </a:solidFill>
                <a:latin typeface="Calibri"/>
              </a:defRPr>
            </a:pPr>
            <a:r>
              <a:rPr sz="2000" dirty="0"/>
              <a:t>One wrong digit violates multiple constraints simultaneously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A1A2E"/>
                </a:solidFill>
                <a:latin typeface="Calibri"/>
              </a:defRPr>
            </a:pPr>
            <a:r>
              <a:rPr sz="2000" dirty="0"/>
              <a:t>Errors become detectable and correctable — like Sudoku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Five Levels of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" cy="548640"/>
          </a:xfrm>
          <a:prstGeom prst="round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L1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Row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Persons = Males + Females (every row)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822960" cy="54864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L2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Column Sums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488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Age groups must sum to their subtotals and totals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822960" cy="54864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Cross-Group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260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Population = Unmarried + Married + Widowed + Divorced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82296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L4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03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Cross-Section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703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All Communities = Brahmanic + Other Hindus + Muslims +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822960" cy="5486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L5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Non-Negativity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4805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All values ≥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 dirty="0"/>
              <a:t>26,173 total constraint checks across 52 tables (~1.6 per cell)</a:t>
            </a:r>
            <a:br>
              <a:rPr dirty="0"/>
            </a:br>
            <a:r>
              <a:rPr dirty="0"/>
              <a:t>Each cell participates in 3–5 independent constraints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4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544" y="296221"/>
            <a:ext cx="10148912" cy="69297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The Repair Cascade</a:t>
            </a:r>
          </a:p>
        </p:txBody>
      </p:sp>
      <p:pic>
        <p:nvPicPr>
          <p:cNvPr id="4" name="Picture 3" descr="fig6_repair_cas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20" y="1118545"/>
            <a:ext cx="11131305" cy="49632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00745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453C"/>
                </a:solidFill>
                <a:latin typeface="Calibri"/>
              </a:defRPr>
            </a:pPr>
            <a:r>
              <a:rPr dirty="0"/>
              <a:t>59% of fixes require </a:t>
            </a:r>
            <a:r>
              <a:rPr lang="en-US" dirty="0"/>
              <a:t>no</a:t>
            </a:r>
            <a:r>
              <a:rPr dirty="0"/>
              <a:t> additional API call</a:t>
            </a:r>
            <a:r>
              <a:rPr lang="en-US" dirty="0"/>
              <a:t>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rPr dirty="0"/>
              <a:t>Result</a:t>
            </a:r>
            <a:r>
              <a:rPr lang="en-US" dirty="0"/>
              <a:t>s</a:t>
            </a:r>
            <a:endParaRPr dirty="0"/>
          </a:p>
        </p:txBody>
      </p:sp>
      <p:pic>
        <p:nvPicPr>
          <p:cNvPr id="4" name="Picture 3" descr="fig7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657" y="1074464"/>
            <a:ext cx="7484205" cy="47776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52/52 tables perfect  ·  16,542 cells, 0 errors  ·  26,173 constraints, 0 failures  ·  6 regions, 4 census years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rPr dirty="0"/>
              <a:t>How </a:t>
            </a:r>
            <a:r>
              <a:rPr lang="en-US" dirty="0" err="1"/>
              <a:t>SudokuOCR</a:t>
            </a:r>
            <a:r>
              <a:rPr dirty="0"/>
              <a:t> Compare</a:t>
            </a:r>
            <a:r>
              <a:rPr lang="en-US" dirty="0"/>
              <a:t>s</a:t>
            </a:r>
            <a:endParaRPr dirty="0"/>
          </a:p>
        </p:txBody>
      </p:sp>
      <p:pic>
        <p:nvPicPr>
          <p:cNvPr id="4" name="Picture 3" descr="fig2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06074"/>
            <a:ext cx="11612880" cy="46116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Finding Errors in "Ground Truth"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GT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Errors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GT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Errors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Travancore.xlsx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53C"/>
                </a:solidFill>
                <a:latin typeface="Calibri"/>
              </a:defRPr>
            </a:pPr>
            <a:r>
              <a:t>4 cells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920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Off by ~1,000 at age 30–35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Hyderabad.xlsx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53C"/>
                </a:solidFill>
                <a:latin typeface="Calibri"/>
              </a:defRPr>
            </a:pPr>
            <a:r>
              <a:t>21 cells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Some off by 6,000+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Coorg.xlsx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26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53C"/>
                </a:solidFill>
                <a:latin typeface="Calibri"/>
              </a:defRPr>
            </a:pPr>
            <a:r>
              <a:t>3 cells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926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Off by 11 at age 50–55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11880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53C"/>
                </a:solidFill>
                <a:latin typeface="Calibri"/>
              </a:defRPr>
            </a:pPr>
            <a:r>
              <a:rPr sz="2200" dirty="0"/>
              <a:t>28 total human transcription errors found across 3 ground truth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10515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A1A2E"/>
                </a:solidFill>
                <a:latin typeface="Calibri"/>
              </a:defRPr>
            </a:pPr>
            <a:r>
              <a:rPr sz="2000" dirty="0"/>
              <a:t>In every case, the pipeline's constraint-verified output was correct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A1A2E"/>
                </a:solidFill>
                <a:latin typeface="Calibri"/>
              </a:defRPr>
            </a:pPr>
            <a:r>
              <a:rPr sz="2000" dirty="0"/>
              <a:t>Constraints serve as a trust signal — no external ground truth needed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A1A2E"/>
                </a:solidFill>
                <a:latin typeface="Calibri"/>
              </a:defRPr>
            </a:pPr>
            <a:r>
              <a:rPr sz="2000" dirty="0"/>
              <a:t>The system is more reliable than human transcription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+ Verifiable Constraints = Reliable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560320"/>
            <a:ext cx="4846320" cy="4572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The pattern works whenever the domain has internal consistency rules: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453C"/>
                </a:solidFill>
                <a:latin typeface="Calibri"/>
              </a:defRPr>
            </a:pPr>
            <a:r>
              <a:t>Census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AI reads digits → arithmetic verifies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453C"/>
                </a:solidFill>
                <a:latin typeface="Calibri"/>
              </a:defRPr>
            </a:pPr>
            <a:r>
              <a:t>Financial 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AI extracts numbers → accounting identities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453C"/>
                </a:solidFill>
                <a:latin typeface="Calibri"/>
              </a:defRPr>
            </a:pPr>
            <a:r>
              <a:t>Scientific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AI reads measurements → physical laws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453C"/>
                </a:solidFill>
                <a:latin typeface="Calibri"/>
              </a:defRPr>
            </a:pPr>
            <a:r>
              <a:t>Code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AI writes code → tests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Calibri"/>
              </a:defRPr>
            </a:pPr>
            <a:r>
              <a:t>Use AI for the hard part (perception) — use math for the easy part (verification)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453C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Full Indian Census corpus: thousands of tables across all provinces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Batch processing pipeline with automatic quality assessment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Estimated cost: ~$77 for 1,000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453C"/>
                </a:solidFill>
                <a:latin typeface="Calibri"/>
              </a:defRPr>
            </a:pPr>
            <a:r>
              <a:t>Extend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515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Other structured historical documents: vital statistics, trade records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Multi-page tables with cross-page constraints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Non-English census records (French, Dutch colonial)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453C"/>
                </a:solidFill>
                <a:latin typeface="Calibri"/>
              </a:defRPr>
            </a:pPr>
            <a:r>
              <a:t>Generalize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515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Open-source the constraint framework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Apply to any domain with verifiable structure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2000" dirty="0"/>
              <a:t>Financial auditing, scientific data validation, inventory records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1709</Words>
  <Application>Microsoft Macintosh PowerPoint</Application>
  <PresentationFormat>Widescreen</PresentationFormat>
  <Paragraphs>110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Ruano, Christopher Esteban Gomes</cp:lastModifiedBy>
  <cp:revision>2</cp:revision>
  <dcterms:created xsi:type="dcterms:W3CDTF">2013-01-27T09:14:16Z</dcterms:created>
  <dcterms:modified xsi:type="dcterms:W3CDTF">2026-03-10T18:24:05Z</dcterms:modified>
  <cp:category/>
</cp:coreProperties>
</file>